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8" r:id="rId4"/>
    <p:sldId id="267" r:id="rId5"/>
    <p:sldId id="258" r:id="rId6"/>
    <p:sldId id="260" r:id="rId7"/>
    <p:sldId id="269" r:id="rId8"/>
    <p:sldId id="275" r:id="rId9"/>
    <p:sldId id="276" r:id="rId10"/>
    <p:sldId id="270" r:id="rId11"/>
    <p:sldId id="271" r:id="rId12"/>
    <p:sldId id="262" r:id="rId13"/>
    <p:sldId id="264" r:id="rId14"/>
    <p:sldId id="274" r:id="rId15"/>
    <p:sldId id="272" r:id="rId16"/>
    <p:sldId id="273" r:id="rId17"/>
    <p:sldId id="266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A5CC7-5722-4513-9530-4D8A23F8F988}" v="18" dt="2026-05-15T08:26:55.9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4" autoAdjust="0"/>
    <p:restoredTop sz="94660"/>
  </p:normalViewPr>
  <p:slideViewPr>
    <p:cSldViewPr>
      <p:cViewPr varScale="1">
        <p:scale>
          <a:sx n="59" d="100"/>
          <a:sy n="59" d="100"/>
        </p:scale>
        <p:origin x="15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5F465-9447-4861-9EEC-84D266C8E8F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2330D-53CC-4B71-9CDE-23097BDC7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5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01028"/>
            <a:ext cx="9143999" cy="156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00" y="201617"/>
            <a:ext cx="1828799" cy="9239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576860" y="0"/>
            <a:ext cx="2110105" cy="838200"/>
          </a:xfrm>
          <a:custGeom>
            <a:avLst/>
            <a:gdLst/>
            <a:ahLst/>
            <a:cxnLst/>
            <a:rect l="l" t="t" r="r" b="b"/>
            <a:pathLst>
              <a:path w="2110104" h="838200">
                <a:moveTo>
                  <a:pt x="2109939" y="0"/>
                </a:moveTo>
                <a:lnTo>
                  <a:pt x="0" y="0"/>
                </a:lnTo>
                <a:lnTo>
                  <a:pt x="0" y="838200"/>
                </a:lnTo>
                <a:lnTo>
                  <a:pt x="2109939" y="838200"/>
                </a:lnTo>
                <a:lnTo>
                  <a:pt x="210993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76860" y="228600"/>
            <a:ext cx="1964423" cy="6347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552603" y="190500"/>
            <a:ext cx="1983105" cy="685800"/>
          </a:xfrm>
          <a:custGeom>
            <a:avLst/>
            <a:gdLst/>
            <a:ahLst/>
            <a:cxnLst/>
            <a:rect l="l" t="t" r="r" b="b"/>
            <a:pathLst>
              <a:path w="1983104" h="685800">
                <a:moveTo>
                  <a:pt x="1982622" y="0"/>
                </a:moveTo>
                <a:lnTo>
                  <a:pt x="0" y="0"/>
                </a:lnTo>
                <a:lnTo>
                  <a:pt x="0" y="685800"/>
                </a:lnTo>
                <a:lnTo>
                  <a:pt x="1982622" y="685800"/>
                </a:lnTo>
                <a:lnTo>
                  <a:pt x="1982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88721" y="201617"/>
            <a:ext cx="1828798" cy="923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736345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65" y="1289100"/>
            <a:ext cx="839444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777325"/>
            <a:ext cx="3441700" cy="9900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25" dirty="0">
                <a:latin typeface="Times New Roman"/>
                <a:cs typeface="Times New Roman"/>
              </a:rPr>
              <a:t>1. Rahul Das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   </a:t>
            </a:r>
            <a:r>
              <a:rPr sz="1800" spc="-10" dirty="0">
                <a:latin typeface="Times New Roman"/>
                <a:cs typeface="Times New Roman"/>
              </a:rPr>
              <a:t>(221198</a:t>
            </a:r>
            <a:r>
              <a:rPr lang="en-IN" sz="1800" spc="-10" dirty="0">
                <a:latin typeface="Times New Roman"/>
                <a:cs typeface="Times New Roman"/>
              </a:rPr>
              <a:t>5038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10" dirty="0">
                <a:latin typeface="Times New Roman"/>
                <a:cs typeface="Times New Roman"/>
              </a:rPr>
              <a:t>2. Souvik Manna    </a:t>
            </a:r>
            <a:r>
              <a:rPr sz="1800" spc="-10" dirty="0">
                <a:latin typeface="Times New Roman"/>
                <a:cs typeface="Times New Roman"/>
              </a:rPr>
              <a:t>(2211</a:t>
            </a:r>
            <a:r>
              <a:rPr lang="en-IN" sz="1800" spc="-10" dirty="0">
                <a:latin typeface="Times New Roman"/>
                <a:cs typeface="Times New Roman"/>
              </a:rPr>
              <a:t>985048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68CDA1-A63A-86D8-39D2-0DCAE96470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EBEBD-8E0E-2A92-10D6-8AD378528C6C}"/>
              </a:ext>
            </a:extLst>
          </p:cNvPr>
          <p:cNvSpPr txBox="1"/>
          <p:nvPr/>
        </p:nvSpPr>
        <p:spPr>
          <a:xfrm>
            <a:off x="1905000" y="5539403"/>
            <a:ext cx="586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Chitkara University, Punjab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34374-AA52-428E-F947-D44ED11309D2}"/>
              </a:ext>
            </a:extLst>
          </p:cNvPr>
          <p:cNvSpPr txBox="1"/>
          <p:nvPr/>
        </p:nvSpPr>
        <p:spPr>
          <a:xfrm>
            <a:off x="4953000" y="2777325"/>
            <a:ext cx="34909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(9467026112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Rajpura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/>
              <a:t>	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BBC10-392A-B179-CBEC-94E23E583393}"/>
              </a:ext>
            </a:extLst>
          </p:cNvPr>
          <p:cNvSpPr txBox="1"/>
          <p:nvPr/>
        </p:nvSpPr>
        <p:spPr>
          <a:xfrm>
            <a:off x="762000" y="1605426"/>
            <a:ext cx="7834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On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Quick-Kart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A Online Shopping App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847B-CD13-AF0A-69BA-8D9E51494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0CE62800-DD72-28F1-2889-8E8B29E1B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041" y="990600"/>
            <a:ext cx="872791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/>
              <a:t>Quick-Kart</a:t>
            </a:r>
            <a:r>
              <a:rPr lang="en-US" sz="2400" dirty="0"/>
              <a:t> is an online shopping and delivery platform designed to make purchasing products fast and convenient.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Customers often face difficulties in finding products quickly and managing orders efficiently.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Traditional shopping methods can be </a:t>
            </a:r>
            <a:r>
              <a:rPr lang="en-US" sz="2400" b="1" dirty="0"/>
              <a:t>time-consuming </a:t>
            </a:r>
            <a:r>
              <a:rPr lang="en-US" sz="2400" dirty="0"/>
              <a:t>and less organized.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Users need a simple platform to browse products, add items to cart, and place orders easily.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Managing payments and product availability can also be challenging.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Quick-Kart provides product browsing, cart management, and secure payment in one platform for a smooth shopping experience.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3A0A07E5-D586-B93B-6E9A-FAF0A6A2012D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DF03-D166-7311-4904-24E76424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4DF5B-998A-6A83-F2EF-B13AC51343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204A672-03D2-CF1E-74B1-DD229554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76" y="1153333"/>
            <a:ext cx="8305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React.js (for building user interface)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and Express.js (for server and APIs)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 (for storing user and project data)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JWT (JSON Web Token for secure login)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Tailwind CSS (for responsive and modern design)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9243BC8-606A-C98C-9BCC-89C129A04E83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945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4152-D368-136D-74EA-B2E2806A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5A180-79D2-250B-AC35-6F7A3EACA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0E91C-6267-7E7B-EDF0-A4E1BD3E348A}"/>
              </a:ext>
            </a:extLst>
          </p:cNvPr>
          <p:cNvSpPr txBox="1"/>
          <p:nvPr/>
        </p:nvSpPr>
        <p:spPr>
          <a:xfrm>
            <a:off x="462116" y="1219200"/>
            <a:ext cx="83008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Quick-Kart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Platform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customers can order items to their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User Authentication Module.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Product Management Module.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Cart Management Module.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Payment Module.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Admin Management Module.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User and Order Management Module.</a:t>
            </a:r>
          </a:p>
          <a:p>
            <a:pPr lvl="7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Quick Kart</a:t>
            </a:r>
            <a:r>
              <a:rPr lang="en-IN" sz="2400" dirty="0"/>
              <a:t> provides a modern and user-friendly approach to e-commerce, making online shopping more convenient, secure, and efficient for users while improving business management and customer satisfaction.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425941-05E1-FE59-01E9-BC6C72794EB2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3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4AA64-97E8-F9B1-4CEB-8BBB046B5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9B8D9-5075-0A19-EDDE-E1EC846C3B3B}"/>
              </a:ext>
            </a:extLst>
          </p:cNvPr>
          <p:cNvSpPr txBox="1"/>
          <p:nvPr/>
        </p:nvSpPr>
        <p:spPr>
          <a:xfrm>
            <a:off x="609600" y="126256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develop an online shopping platform that helps users purchase products easily and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provide a simple product browsing system for quick access to different categories and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enable secure user registration and login for personalized shopping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provide cart management features for adding and removing products conveniently.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support secure online payment methods for safe and smooth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manage products, orders, and customer details through an admin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integrate all shopping features into a single platform for better user convenience and organization.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8478060-386A-4F35-EAB8-2A78A9D7CF08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905" y="69596"/>
            <a:ext cx="33288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1577-AB9C-1365-3CE8-BAA6B1116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F74F32-F6A0-CCA2-D5CE-C145C0143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97851"/>
            <a:ext cx="838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login and signup using JWT.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Add, update, and manage products easily.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an explore products by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catagories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 and remove products conveniently.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safe and smooth online transactions.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 customer order efficiently.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Monitor products, users, and sales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ResponsiveUI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smoothly on desktop 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Checkout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checkout process for better user experience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D85268C-5ED6-7D63-FB41-3E5961A5C464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BC91-DD1D-7BD1-4FF7-B0BCE290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184F3-A642-2F12-7527-7BEC05D1D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AE56BD0-9E70-5785-D3DE-12CA64E5DE3D}"/>
              </a:ext>
            </a:extLst>
          </p:cNvPr>
          <p:cNvSpPr txBox="1"/>
          <p:nvPr/>
        </p:nvSpPr>
        <p:spPr>
          <a:xfrm>
            <a:off x="8660130" y="649732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235A5-48F1-C155-773A-9E6118312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7851"/>
            <a:ext cx="9067800" cy="559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2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A0C8-EA58-2BD5-141F-2528167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28419-7140-62A3-5D4F-6DC04ECFF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E5CFF7E-D9A1-6FCB-CBCA-46DC7EDC3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19200"/>
            <a:ext cx="883920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Frontend, Backend, and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 + Tailwind CSS)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user interface and interactions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+ Express.js)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manages application logic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login and access control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users, documents, flashcards, quizzes, and 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flows from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→ Frontend → Backend → Database → Frontend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25B56BF-291F-90FF-7775-D38AD9D9058F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5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AAFF-C957-0822-2AA2-F42337E8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Flow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71035-9E1E-DB01-FFFC-5BE2B37B6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9E3B25B-4F80-C8C9-D5FA-29A7DB24371D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A96C1-6C6C-0876-EF39-50555413A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1810"/>
            <a:ext cx="9144000" cy="559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3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037F-5148-57F4-A1D3-7DC55760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864"/>
            <a:ext cx="5652135" cy="696595"/>
          </a:xfrm>
        </p:spPr>
        <p:txBody>
          <a:bodyPr wrap="square"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3908F-2390-288E-7E4D-8C2CB0F5A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68A425A4-AAD4-7B74-953A-2C7E2CAF98F6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4AEBD-21C1-0F8D-AC61-713C41EC3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7851"/>
            <a:ext cx="9144000" cy="5575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99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37EC-62EE-BE3D-B5BE-F5E83382E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1307"/>
            <a:ext cx="4783007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E6186-F6CA-05BC-B4BB-51BAFFD30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596BDEF3-F04C-C090-6C0A-DCCAF7DEFC7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2A93DC-7AE3-94D6-9902-F98DB88C5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7851"/>
            <a:ext cx="9144000" cy="530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6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4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9D340-BE3B-E946-B75C-84263E285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2FA2AAA-AF58-2B00-7C7E-FBD941F9C2BF}"/>
              </a:ext>
            </a:extLst>
          </p:cNvPr>
          <p:cNvSpPr txBox="1"/>
          <p:nvPr/>
        </p:nvSpPr>
        <p:spPr>
          <a:xfrm>
            <a:off x="8610600" y="649960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EFD05-FE32-6CF9-4487-5344C9E18D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7851"/>
            <a:ext cx="9143999" cy="5575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8B6D7-5B14-C2E4-192E-C282AB38F8A3}"/>
              </a:ext>
            </a:extLst>
          </p:cNvPr>
          <p:cNvSpPr txBox="1"/>
          <p:nvPr/>
        </p:nvSpPr>
        <p:spPr>
          <a:xfrm>
            <a:off x="2057400" y="30480"/>
            <a:ext cx="2957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88BB5-9C10-A378-4818-CC13EA2EEF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F3C6FE5-A006-3D3F-71CF-4266AF13F2D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754C2-664D-7E41-EF9F-0FCE17F09D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97850"/>
            <a:ext cx="7010400" cy="5575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3F05D2-0CF0-F50B-3990-34C2BBEDA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AB9A6-661D-98F5-569D-01CAEE4CB357}"/>
              </a:ext>
            </a:extLst>
          </p:cNvPr>
          <p:cNvSpPr txBox="1"/>
          <p:nvPr/>
        </p:nvSpPr>
        <p:spPr>
          <a:xfrm>
            <a:off x="990600" y="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CE0F6-40EA-4E16-A144-341EED989D98}"/>
              </a:ext>
            </a:extLst>
          </p:cNvPr>
          <p:cNvSpPr txBox="1"/>
          <p:nvPr/>
        </p:nvSpPr>
        <p:spPr>
          <a:xfrm>
            <a:off x="602258" y="1114723"/>
            <a:ext cx="7620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Testing: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module (authentication, product management, cart, and payment).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frontend-backend communication.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features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UI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 and smooth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across devices.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system performance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product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4958-4BE6-33DD-9F18-4F630709D5AE}"/>
              </a:ext>
            </a:extLst>
          </p:cNvPr>
          <p:cNvSpPr txBox="1"/>
          <p:nvPr/>
        </p:nvSpPr>
        <p:spPr>
          <a:xfrm>
            <a:off x="597310" y="4038600"/>
            <a:ext cx="8305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Results:</a:t>
            </a: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worked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browsing, cart management, and checkout functioned properly</a:t>
            </a: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system processed transactions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and accurately.</a:t>
            </a: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managed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products, users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orders effectively.</a:t>
            </a: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provided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smooth, fast, and user-friendly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experience.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846D5837-1F4F-97E9-BEA7-9741F16FE97E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8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7FC145-F792-8556-5030-29CF74A64CC4}"/>
              </a:ext>
            </a:extLst>
          </p:cNvPr>
          <p:cNvSpPr txBox="1"/>
          <p:nvPr/>
        </p:nvSpPr>
        <p:spPr>
          <a:xfrm>
            <a:off x="1600200" y="7620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B50CF-97FB-64B9-E996-C7635AD91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1A9352-BEC2-6BD4-6B7E-1443CFA8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51508"/>
            <a:ext cx="8305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The system depends on internet connectivity for browsing products and processing payments.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Processing a large number of users and products at the same time may affect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Limited support for offline shopping features.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Payment gateway issues may sometimes interrupt transactions.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The system currently supports basic shopping features and lacks advanced recommendation systems.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Admin management is limited to basic product, user, and order handling features.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E9A46FD-2059-FB46-C998-E55BE873C213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137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4B203-C277-8ADE-8241-0D8F59AF7809}"/>
              </a:ext>
            </a:extLst>
          </p:cNvPr>
          <p:cNvSpPr txBox="1"/>
          <p:nvPr/>
        </p:nvSpPr>
        <p:spPr>
          <a:xfrm>
            <a:off x="1371600" y="18288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1787A-5ADB-99C8-BDA9-84ADDC0016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B44892-0C35-91DB-A4CE-79872C7F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30394"/>
            <a:ext cx="8382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Implement same-day and </a:t>
            </a:r>
            <a:r>
              <a:rPr lang="en-US" sz="2400" b="1" dirty="0"/>
              <a:t>urgent product</a:t>
            </a:r>
            <a:r>
              <a:rPr lang="en-US" sz="2400" dirty="0"/>
              <a:t> delivery services similar to quick-commerce platforms like </a:t>
            </a:r>
            <a:r>
              <a:rPr lang="en-US" sz="2400" b="1" dirty="0" err="1"/>
              <a:t>Blinkit</a:t>
            </a:r>
            <a:r>
              <a:rPr lang="en-US" sz="2400" dirty="0"/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Add </a:t>
            </a:r>
            <a:r>
              <a:rPr lang="en-US" sz="2400" b="1" dirty="0"/>
              <a:t>real-time order tracking</a:t>
            </a:r>
            <a:r>
              <a:rPr lang="en-US" sz="2400" dirty="0"/>
              <a:t> and delivery status updates for customers.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Develop a </a:t>
            </a:r>
            <a:r>
              <a:rPr lang="en-US" sz="2400" b="1" dirty="0"/>
              <a:t>mobile application </a:t>
            </a:r>
            <a:r>
              <a:rPr lang="en-US" sz="2400" dirty="0"/>
              <a:t>for faster and easier shopping access.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Add </a:t>
            </a:r>
            <a:r>
              <a:rPr lang="en-US" sz="2400" b="1" dirty="0"/>
              <a:t>multiple payment options including wallets, UPI, and cash on delivery</a:t>
            </a:r>
            <a:r>
              <a:rPr lang="en-US" sz="2400" dirty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Improve system performance to </a:t>
            </a:r>
            <a:r>
              <a:rPr lang="en-US" sz="2400" b="1" dirty="0"/>
              <a:t>handle a large number of users</a:t>
            </a:r>
            <a:r>
              <a:rPr lang="en-US" sz="2400" dirty="0"/>
              <a:t> and products efficiently.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Enhance the admin dashboard with advanced </a:t>
            </a:r>
            <a:r>
              <a:rPr lang="en-US" sz="2400" b="1" dirty="0"/>
              <a:t>sales analytics </a:t>
            </a:r>
            <a:r>
              <a:rPr lang="en-US" sz="2400" dirty="0"/>
              <a:t>and reporting features.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/>
              <a:t>Add </a:t>
            </a:r>
            <a:r>
              <a:rPr lang="en-US" sz="2400" b="1" dirty="0"/>
              <a:t>customer review </a:t>
            </a:r>
            <a:r>
              <a:rPr lang="en-US" sz="2400" dirty="0"/>
              <a:t>and rating systems for better product feedback.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400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673008C-7445-BC00-CF32-A062FFBB9AD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83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148" y="3030863"/>
            <a:ext cx="39789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Thank</a:t>
            </a:r>
            <a:r>
              <a:rPr sz="6600" b="1" spc="-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6600" b="1" spc="-77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Y</a:t>
            </a:r>
            <a:r>
              <a:rPr sz="66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o</a:t>
            </a:r>
            <a:r>
              <a:rPr sz="66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u</a:t>
            </a:r>
            <a:endParaRPr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0174A-A083-53B5-D70B-5C94D193C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DDF80EE-729D-217D-DCE7-922B20254C1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</TotalTime>
  <Words>887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    Project Presentation of Industry Oriented Hands on Experience (22CS422)</vt:lpstr>
      <vt:lpstr>Introduction</vt:lpstr>
      <vt:lpstr>Technology Stack</vt:lpstr>
      <vt:lpstr>Project Abstract</vt:lpstr>
      <vt:lpstr>Objectives</vt:lpstr>
      <vt:lpstr>Key Features</vt:lpstr>
      <vt:lpstr>High-Level Design</vt:lpstr>
      <vt:lpstr>  System Architecture</vt:lpstr>
      <vt:lpstr>     Data Flow Diagram</vt:lpstr>
      <vt:lpstr>Use Case Diagram</vt:lpstr>
      <vt:lpstr>ER Diagram</vt:lpstr>
      <vt:lpstr>Class Diagram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Das</cp:lastModifiedBy>
  <cp:revision>76</cp:revision>
  <dcterms:created xsi:type="dcterms:W3CDTF">2025-03-11T17:49:38Z</dcterms:created>
  <dcterms:modified xsi:type="dcterms:W3CDTF">2026-05-15T08:30:24Z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2025-03-11T00:00:00Z</vt:filetime>
  </property>
  <property fmtid="{D5CDD505-2E9C-101B-9397-08002B2CF9AE}" pid="5" name="Producer">
    <vt:lpwstr>Adobe PDF Library 25.1.204</vt:lpwstr>
  </property>
</Properties>
</file>